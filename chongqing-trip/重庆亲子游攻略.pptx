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PingFang SC"/>
              </a:defRPr>
            </a:pPr>
            <a:r>
              <a:t>重庆亲子游攻略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8C32"/>
                </a:solidFill>
                <a:latin typeface="PingFang SC"/>
              </a:defRPr>
            </a:pPr>
            <a:r>
              <a:t>2大2小 · 3-5天专属线路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C8D2"/>
                </a:solidFill>
                <a:latin typeface="PingFang SC"/>
              </a:defRPr>
            </a:pPr>
            <a:r>
              <a:t>洪崖洞 · 长江索道 · 磁器口 · 武隆天生三桥 · 仙女山 · 科技馆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754880"/>
            <a:ext cx="4572000" cy="27432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9岁儿子 + 11岁女儿 · 中秋/国庆出行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A0"/>
                </a:solidFill>
                <a:latin typeface="PingFang SC"/>
              </a:defRPr>
            </a:pPr>
            <a:r>
              <a:t>丹丹一家的专属旅行规划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8C32"/>
                </a:solidFill>
                <a:latin typeface="PingFang SC"/>
              </a:defRPr>
            </a:pPr>
            <a:r>
              <a:t>三条线路方案总览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46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68CDC"/>
                </a:solidFill>
                <a:latin typeface="PingFang SC"/>
              </a:defRPr>
            </a:pPr>
            <a:r>
              <a:t>方案A：3天精华版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纯市区，轻松不赶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洪崖洞 → 索道 → 磁器口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李子基 → 科技馆 → 动物园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114800"/>
            <a:ext cx="2926080" cy="18288"/>
          </a:xfrm>
          <a:prstGeom prst="rect">
            <a:avLst/>
          </a:prstGeom>
          <a:solidFill>
            <a:srgbClr val="46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适合：时间紧的家庭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68CDC"/>
                </a:solidFill>
                <a:latin typeface="PingFang SC"/>
              </a:defRPr>
            </a:pPr>
            <a:r>
              <a:t>约5,500-8,600元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371600"/>
            <a:ext cx="3474720" cy="475488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5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0B478"/>
                </a:solidFill>
                <a:latin typeface="PingFang SC"/>
              </a:defRPr>
            </a:pPr>
            <a:r>
              <a:t>方案B：4天经典版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市区+武隆，最佳平衡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市区2天 + 武隆1天 + 收尾1天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天生三桥 · 仙女山草原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4114800"/>
            <a:ext cx="2926080" cy="18288"/>
          </a:xfrm>
          <a:prstGeom prst="rect">
            <a:avLst/>
          </a:prstGeom>
          <a:solidFill>
            <a:srgbClr val="5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适合：大部分家庭（推荐）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B478"/>
                </a:solidFill>
                <a:latin typeface="PingFang SC"/>
              </a:defRPr>
            </a:pPr>
            <a:r>
              <a:t>约7,400-11,900元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371600"/>
            <a:ext cx="3474720" cy="475488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C8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78FF"/>
                </a:solidFill>
                <a:latin typeface="PingFang SC"/>
              </a:defRPr>
            </a:pPr>
            <a:r>
              <a:t>方案C：5天深度版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玩透山城，不赶路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市区3天 + 武隆1天 + 深度体验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打糜籽 · 汉服 · 集印章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4114800"/>
            <a:ext cx="2926080" cy="18288"/>
          </a:xfrm>
          <a:prstGeom prst="rect">
            <a:avLst/>
          </a:prstGeom>
          <a:solidFill>
            <a:srgbClr val="C8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适合：假期充裕的家庭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78FF"/>
                </a:solidFill>
                <a:latin typeface="PingFang SC"/>
              </a:defRPr>
            </a:pPr>
            <a:r>
              <a:t>约8,300-13,500元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洪崖洞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32"/>
                </a:solidFill>
                <a:latin typeface="PingFang SC"/>
              </a:defRPr>
            </a:pPr>
            <a:r>
              <a:t>洪崖洞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渝中区嘉陵江汿汻路88号 · 免费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亮点：11层同脚楼，夜晚亮灯如童话世界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从11楼进平路出，不爬楼梯，亲子友好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亮灯时间：约19:30-23:00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最佳拍摄点：千嘉门大桥上、对岸江北嘴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76656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亲子贴士：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5层有母婴室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486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人多时牵好孩子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5943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周边吃饭方便：珞姐火锅、丘二馆鸡汤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_长江索道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46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68CDC"/>
                </a:solidFill>
                <a:latin typeface="PingFang SC"/>
              </a:defRPr>
            </a:pPr>
            <a:r>
              <a:t>长江索道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渝中区新华路 · 单程20元/人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亮点：飞越长江，空中俯瞰两岸风光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中国唯一的城市跨江客运索道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建议：南岸上新街站 → 北岸小什字站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孩子1.2m以下免票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76656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亲子贴士：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错峰乘坐：早上8点前或晚上8点后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486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节假日排队可能30-60分钟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5943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孩子全程会很兴奋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5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0B478"/>
                </a:solidFill>
                <a:latin typeface="PingFang SC"/>
              </a:defRPr>
            </a:pPr>
            <a:r>
              <a:t>李子基轻轨穿楼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地铁2号线李子基站 · 免费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亮点：轻轨穿越居民楼，中国唯一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在站楼下观景台拍照，看列车穿楼而过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孩子会觉得新奇有趣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76656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亲子贴士：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可以坐一次轻轨体验穿楼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附近鹅岭二厂文创园可顺路打卡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486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告诉孩子：楼和轨道是同时建的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_磁器口古镇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B4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48250"/>
                </a:solidFill>
                <a:latin typeface="PingFang SC"/>
              </a:defRPr>
            </a:pPr>
            <a:r>
              <a:t>磁器口古镇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沙坎坝区磁器口 · 免费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亮点：千年古镇，老重庆的市井烟火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看传统手工艺、记老街、吃小吃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陈麻花、手工酸辣粉、糖画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76656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亲子贴士：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打糜籽体验：孩子可以动手做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穿汉服拍全家福，11岁女儿会喜欢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486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节假日人多，建议早上去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_解放碑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C5050"/>
                </a:solidFill>
                <a:latin typeface="PingFang SC"/>
              </a:defRPr>
            </a:pPr>
            <a:r>
              <a:t>解放碑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渝中区解放碑商圈 · 免费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亮点：重庆地标，中国西部最大步行街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路面平坦，适合推车和散步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随手就能拍出温馨亲子照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76656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美食推荐：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八一好吃街：豌杂面（少辣）14元/碗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熊猫汤圆：造型可爱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486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一只酸奶牛：重庆本土品牌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6_武隆天生三桥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5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0B478"/>
                </a:solidFill>
                <a:latin typeface="PingFang SC"/>
              </a:defRPr>
            </a:pPr>
            <a:r>
              <a:t>天生三桥（武隆）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武隆区仙女山镇 · 门票125元/人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亮点：世界自然遗产，三座天然石桥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《变形金刚4》取景地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坐观光电梯下谷，步道平缓适合孩子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全程约2小时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76656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亲子贴士：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提前给孩子讲：地球几亿年雕刻的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486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穿防滑鞋，步道有台阶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5943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带薄外套，比市区凉5-8°C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_仙女山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64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C882"/>
                </a:solidFill>
                <a:latin typeface="PingFang SC"/>
              </a:defRPr>
            </a:pPr>
            <a:r>
              <a:t>仙女山国家森林公园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武隆区 · 门票50元/人 + 小火车25元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亮点：高山草原，孩子自由奔跑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海拔1900米，比市区凉5-8°C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小火轨穿行林海，孩子超爱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76656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亲子贴士：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草原上可以放风筝、投喂小动物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小火轨排队30-45分钟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486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9岁儿子会在这里玩疯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8_山城步道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96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68264"/>
                </a:solidFill>
                <a:latin typeface="PingFang SC"/>
              </a:defRPr>
            </a:pPr>
            <a:r>
              <a:t>山城步道（第三步道）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渝中区 · 免费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亮点：看老重庆，悬崖上的步道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沿途有防空洞、同脚楼、江景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第三步道相对平缓，适合带孩子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76656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亲子贴士：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建议走1-2公里即可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沿途可以给孩子讲抗战历史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486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夕阳时分最美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9_重庆科技馆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46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68CDC"/>
                </a:solidFill>
                <a:latin typeface="PingFang SC"/>
              </a:defRPr>
            </a:pPr>
            <a:r>
              <a:t>重庆科技馆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江北区江北嘴 · 免费（需预约）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亮点：互动展多，9岁11岁正合适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防灾科技厅、宇航科技厅、儿童科学乐园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至少留2-3小时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76656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亲子贴士：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周一闭馆，记得预约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孩子可以动手操作很多展项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486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适合半天游览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_重庆动物园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50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0B450"/>
                </a:solidFill>
                <a:latin typeface="PingFang SC"/>
              </a:defRPr>
            </a:pPr>
            <a:r>
              <a:t>重庆动物园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九龙坡区西郊路 · 门票25元/人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亮点：看大熊猫四喜丸子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有儿童游乐区，孩子可以跑跳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园内有无障碍通道，推车方便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76656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亲子贴士：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上午去，熊猫比较活跃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园内有餐厅，1-2小时可以逛完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486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备好消食片，小吃吃多了怕肠胃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3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8C32"/>
                </a:solidFill>
                <a:latin typeface="PingFang SC"/>
              </a:defRPr>
            </a:pPr>
            <a:r>
              <a:t>美食攻略（不辣/微辣友好）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651760" cy="475488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FF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32"/>
                </a:solidFill>
                <a:latin typeface="PingFang SC"/>
              </a:defRPr>
            </a:pPr>
            <a:r>
              <a:t>主食（不辣首选）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花市豌杂面：告诉老板少放辣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重庆小面：居民楼下老面馆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酸辣粉：好又来，酸味为主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651760" cy="475488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DC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5050"/>
                </a:solidFill>
                <a:latin typeface="PingFang SC"/>
              </a:defRPr>
            </a:pPr>
            <a:r>
              <a:t>火锅（鹒鹑锅）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珞姐老火锅：菌汤/番茄锅底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周师兄：有儿童餐服务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朱氏胖子烂火锅：本地人常去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2651760" cy="475488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5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B478"/>
                </a:solidFill>
                <a:latin typeface="PingFang SC"/>
              </a:defRPr>
            </a:pPr>
            <a:r>
              <a:t>孩子最爱小吃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熊猫汤圆：造型可爱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一只酸奶牛：本土品牌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山城小汤圆、陈麻花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651760" cy="475488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46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68CDC"/>
                </a:solidFill>
                <a:latin typeface="PingFang SC"/>
              </a:defRPr>
            </a:pPr>
            <a:r>
              <a:t>正餐推荐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丘二馆炖鸡汤：不辣暖胃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武隆碗碗羊肉：去武隆必吃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农家菜（仙女山镇）：新鲜蔬菜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68CDC"/>
                </a:solidFill>
                <a:latin typeface="PingFang SC"/>
              </a:defRPr>
            </a:pPr>
            <a:r>
              <a:t>交通指南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64592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46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68CDC"/>
                </a:solidFill>
                <a:latin typeface="PingFang SC"/>
              </a:defRPr>
            </a:pPr>
            <a:r>
              <a:t>到达重庆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463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飞机：江北机场 → 地铁10号线到市区（约50分钟）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8745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高铁：重庆北站/西站 → 地铁直达市区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515600" cy="164592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5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B478"/>
                </a:solidFill>
                <a:latin typeface="PingFang SC"/>
              </a:defRPr>
            </a:pPr>
            <a:r>
              <a:t>市区交通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291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地铁：最方便，1/2/3/6号线覆盖主要景点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703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打车：高德/滴滴，重庆导航有时不准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114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长江索道：本身就是景点，单程20元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5262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两江游船：夜游约100-150元/人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0515600" cy="164592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FF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120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32"/>
                </a:solidFill>
                <a:latin typeface="PingFang SC"/>
              </a:defRPr>
            </a:pPr>
            <a:r>
              <a:t>去武隆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1206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包车：最方便，往返约800-1200元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532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跟团：一日游约300-500元/人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943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高铁+大巴：北站→武隆站约1.5小时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8C32"/>
                </a:solidFill>
                <a:latin typeface="PingFang SC"/>
              </a:defRPr>
            </a:pPr>
            <a:r>
              <a:t>费用估算（4人）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3天版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4天版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5天版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10515600" cy="54864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往返交通（高铁）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2,000-3,000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2,000-3,000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2,000-3,000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住宿（3/4/5晚）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1,500-2,500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2,000-3,500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2,500-4,500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154680"/>
            <a:ext cx="10515600" cy="54864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餐饮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1,200-1,800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1,600-2,400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2,000-3,000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94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门票+交通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94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500-800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794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1,500-2,500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794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1,500-2,500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343400"/>
            <a:ext cx="10515600" cy="54864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零食+伴手礼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300-500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300-500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300-500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074920"/>
            <a:ext cx="10515600" cy="64008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166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合计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166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5,500-8,600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166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7,400-11,900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166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8,300-13,500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989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人均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989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1,400-2,150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989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1,850-2,975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989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2,075-3,375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50B478"/>
                </a:solidFill>
                <a:latin typeface="PingFang SC"/>
              </a:defRPr>
            </a:pPr>
            <a:r>
              <a:t>出行提醒 &amp; 必备物品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B478"/>
                </a:solidFill>
                <a:latin typeface="PingFang SC"/>
              </a:defRPr>
            </a:pPr>
            <a:r>
              <a:t>中秋 vs 国庆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中秋：性价比高，人少，体验好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国庆：人多，提前1个月订酒店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国庆热门餐厅排队1-2小时很正常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3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B478"/>
                </a:solidFill>
                <a:latin typeface="PingFang SC"/>
              </a:defRPr>
            </a:pPr>
            <a:r>
              <a:t>关键提醒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每天控制在1.5万步以内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每天最多3个景点，留足吃饭休息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武隆那天最累，前后各留一天缓冲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火锅别第一顿就吃，让肠胃适应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· 重庆天气说变就变，带雨䈜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32"/>
                </a:solidFill>
                <a:latin typeface="PingFang SC"/>
              </a:defRPr>
            </a:pPr>
            <a:r>
              <a:t>必备物品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32"/>
                </a:solidFill>
                <a:latin typeface="PingFang SC"/>
              </a:defRPr>
            </a:pPr>
            <a:r>
              <a:t>大人：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舒适运动鞋（必须！全是坡）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薄外套（秋天早晚温差大）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防晒霜 + 帽子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充电宝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32"/>
                </a:solidFill>
                <a:latin typeface="PingFang SC"/>
              </a:defRPr>
            </a:pPr>
            <a:r>
              <a:t>孩子：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防走失手环（洪崖洞人多时必用）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轻便水壶 + 小零食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换洁衣物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2120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消食片/益生菌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8521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32"/>
                </a:solidFill>
                <a:latin typeface="PingFang SC"/>
              </a:defRPr>
            </a:pPr>
            <a:r>
              <a:t>通用：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617219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雨䈜/雨衣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64922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创可贴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68122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PingFang SC"/>
              </a:defRPr>
            </a:pPr>
            <a:r>
              <a:t>· 身份证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PingFang SC"/>
              </a:defRPr>
            </a:pPr>
            <a:r>
              <a:t>祝旅途愉快！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8C32"/>
                </a:solidFill>
                <a:latin typeface="PingFang SC"/>
              </a:defRPr>
            </a:pPr>
            <a:r>
              <a:t>重庆，一座来了就不想走的城市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114800"/>
            <a:ext cx="4572000" cy="27432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C8D2"/>
                </a:solidFill>
                <a:latin typeface="PingFang SC"/>
              </a:defRPr>
            </a:pPr>
            <a:r>
              <a:t>让孩子们在8D魔幻城市里，推开一扇扇探索的门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A0"/>
                </a:solidFill>
                <a:latin typeface="PingFang SC"/>
              </a:defRPr>
            </a:pPr>
            <a:r>
              <a:t>暖暖 × 丹丹一家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