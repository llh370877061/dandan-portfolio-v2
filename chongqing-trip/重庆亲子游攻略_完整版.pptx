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PingFang SC"/>
              </a:defRPr>
            </a:pPr>
            <a:r>
              <a:t>重庆亲子游攻略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8C32"/>
                </a:solidFill>
                <a:latin typeface="PingFang SC"/>
              </a:defRPr>
            </a:pPr>
            <a:r>
              <a:t>2大2小 | 3-5天专属线路 | 完整版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C8D2"/>
                </a:solidFill>
                <a:latin typeface="PingFang SC"/>
              </a:defRPr>
            </a:pPr>
            <a:r>
              <a:t>必去景点 | 必玩项目 | 必住酒店 | 必吃美食 | 交通攻略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572000"/>
            <a:ext cx="4572000" cy="18288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9岁儿子 + 11岁女儿 | 中秋/国庆出行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8C32"/>
                </a:solidFill>
                <a:latin typeface="PingFang SC"/>
              </a:defRPr>
            </a:pPr>
            <a:r>
              <a:t>三条线路方案总览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46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68CDC"/>
                </a:solidFill>
                <a:latin typeface="PingFang SC"/>
              </a:defRPr>
            </a:pPr>
            <a:r>
              <a:t>方案A: 3天精华版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纯市区，轻松不赶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洪崖洞&gt;索道&gt;磁器口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李子坝&gt;科技馆&gt;动物园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114800"/>
            <a:ext cx="2926080" cy="18288"/>
          </a:xfrm>
          <a:prstGeom prst="rect">
            <a:avLst/>
          </a:prstGeom>
          <a:solidFill>
            <a:srgbClr val="46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适合: 时间紧的家庭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68CDC"/>
                </a:solidFill>
                <a:latin typeface="PingFang SC"/>
              </a:defRPr>
            </a:pPr>
            <a:r>
              <a:t>约5,500-8,600元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371600"/>
            <a:ext cx="3474720" cy="475488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5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0B478"/>
                </a:solidFill>
                <a:latin typeface="PingFang SC"/>
              </a:defRPr>
            </a:pPr>
            <a:r>
              <a:t>方案B: 4天经典版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市区+武隆，最佳平衡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市区2天+武隆1天+收尾1天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天生三桥/仙女山草原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79" y="4114800"/>
            <a:ext cx="2926080" cy="18288"/>
          </a:xfrm>
          <a:prstGeom prst="rect">
            <a:avLst/>
          </a:prstGeom>
          <a:solidFill>
            <a:srgbClr val="5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适合: 大部分家庭(推荐)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B478"/>
                </a:solidFill>
                <a:latin typeface="PingFang SC"/>
              </a:defRPr>
            </a:pPr>
            <a:r>
              <a:t>约7,400-11,900元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371600"/>
            <a:ext cx="3474720" cy="475488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B4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478FF"/>
                </a:solidFill>
                <a:latin typeface="PingFang SC"/>
              </a:defRPr>
            </a:pPr>
            <a:r>
              <a:t>方案C: 5天深度版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玩透山城，不赶路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市区3天+武隆1天+深度体验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打糍粑/汉服/集印章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4114800"/>
            <a:ext cx="2926080" cy="18288"/>
          </a:xfrm>
          <a:prstGeom prst="rect">
            <a:avLst/>
          </a:prstGeom>
          <a:solidFill>
            <a:srgbClr val="B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适合: 假期充裕的家庭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478FF"/>
                </a:solidFill>
                <a:latin typeface="PingFang SC"/>
              </a:defRPr>
            </a:pPr>
            <a:r>
              <a:t>约8,300-13,500元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_洪崖洞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32"/>
                </a:solidFill>
                <a:latin typeface="PingFang SC"/>
              </a:defRPr>
            </a:pPr>
            <a:r>
              <a:t>洪崖洞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渝中区嘉陵江滨江路88号 | 免费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亮点: 11层吊脚楼，夜晚亮灯如童话世界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670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从11楼进平路出，不爬楼梯，亲子友好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0540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亮灯时间: 约19:30-23:00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575303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32"/>
                </a:solidFill>
                <a:latin typeface="PingFang SC"/>
              </a:defRPr>
            </a:pPr>
            <a:r>
              <a:t>亲子贴士: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9593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- 5层有母婴室，人多时牵好孩子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最佳拍照点: 千厮门大桥/对岸江北嘴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7274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洪崖洞别信快速通道，都是骗人的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_长江索道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46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68CDC"/>
                </a:solidFill>
                <a:latin typeface="PingFang SC"/>
              </a:defRPr>
            </a:pPr>
            <a:r>
              <a:t>长江索道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渝中区新华路 | 单程20元/人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亮点: 飞越长江，空中俯瞰两岸风光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670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中国唯一的城市跨江客运索道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0540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建议: 南岸上新街站&gt;北岸小什字站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575303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68CDC"/>
                </a:solidFill>
                <a:latin typeface="PingFang SC"/>
              </a:defRPr>
            </a:pPr>
            <a:r>
              <a:t>亲子贴士: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9593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南站(上新街)比北站人少50%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错峰: 早上8点前或晚上8点后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7274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提前在公众号预约省排队时间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_李子坝轻轨穿楼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5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0B478"/>
                </a:solidFill>
                <a:latin typeface="PingFang SC"/>
              </a:defRPr>
            </a:pPr>
            <a:r>
              <a:t>李子坝轻轨穿楼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地铁2号线李子坝站 | 免费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亮点: 轻轨穿越居民楼，中国唯一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670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站楼下观景台拍照，看列车穿楼而过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0540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可以坐一次轻轨亲身经历穿楼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575303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0B478"/>
                </a:solidFill>
                <a:latin typeface="PingFang SC"/>
              </a:defRPr>
            </a:pPr>
            <a:r>
              <a:t>亲子贴士: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9593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坐2号线较场口到李子坝方向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靠驾驶室右边座位视野最佳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7274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附近鹅岭二厂可顺路打卡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_磁器口古镇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B4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B48250"/>
                </a:solidFill>
                <a:latin typeface="PingFang SC"/>
              </a:defRPr>
            </a:pPr>
            <a:r>
              <a:t>磁器口古镇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沙坪坝区磁器口 | 免费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亮点: 千年古镇，老重庆的市井烟火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670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看传统手工艺、逛老街、吃小吃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0540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陈麻花、手工酸辣粉、糖画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575303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48250"/>
                </a:solidFill>
                <a:latin typeface="PingFang SC"/>
              </a:defRPr>
            </a:pPr>
            <a:r>
              <a:t>亲子贴士: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9593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打糍粑体验: 孩子可以动手做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穿汉服拍全家福，11岁女儿会喜欢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7274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节假日早上去，往小巷子钻更安静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_解放碑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C5050"/>
                </a:solidFill>
                <a:latin typeface="PingFang SC"/>
              </a:defRPr>
            </a:pPr>
            <a:r>
              <a:t>解放碑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渝中区解放碑商圈 | 免费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亮点: 重庆地标，中国西部最大步行街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670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路面平坦，适合推车和散步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0540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随手就能拍出温馨亲子照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575303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C5050"/>
                </a:solidFill>
                <a:latin typeface="PingFang SC"/>
              </a:defRPr>
            </a:pPr>
            <a:r>
              <a:t>美食推荐: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9593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八一好吃街: 豌杂面(少辣)14元/碗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熊猫汤圆、一只酸奶牛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7274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熨斗糕、糯米团等街边小吃随身揣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6_武隆天生三桥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5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0B478"/>
                </a:solidFill>
                <a:latin typeface="PingFang SC"/>
              </a:defRPr>
            </a:pPr>
            <a:r>
              <a:t>天生三桥(武隆)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武隆区仙女山镇 | 门票125元/人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亮点: 世界自然遗产，三座天然石桥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670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变形金刚4/满城尽带黄金甲取景地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0540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坐观光电梯下谷，步道平缓适合孩子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575303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0B478"/>
                </a:solidFill>
                <a:latin typeface="PingFang SC"/>
              </a:defRPr>
            </a:pPr>
            <a:r>
              <a:t>亲子贴士: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9593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提前给孩子讲: 地球几亿年雕刻的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穿防滑鞋，带薄外套(比市区凉5-8度)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7274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全程约2小时，不要催孩子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_仙女山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64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C882"/>
                </a:solidFill>
                <a:latin typeface="PingFang SC"/>
              </a:defRPr>
            </a:pPr>
            <a:r>
              <a:t>仙女山国家森林公园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武隆区 | 门票50元+小火车25元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亮点: 高山草原，孩子自由奔跑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670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海拔1900米，比市区凉5-8度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0540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小火车穿行林海，孩子超爱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575303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4C882"/>
                </a:solidFill>
                <a:latin typeface="PingFang SC"/>
              </a:defRPr>
            </a:pPr>
            <a:r>
              <a:t>亲子贴士: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9593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草原上可以放风筝、投喂小动物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小火车排队30-45分钟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7274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午餐推荐武隆碗碗羊肉(不辣)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8_山城步道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968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968264"/>
                </a:solidFill>
                <a:latin typeface="PingFang SC"/>
              </a:defRPr>
            </a:pPr>
            <a:r>
              <a:t>山城步道(第三步道)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渝中区 | 免费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亮点: 看老重庆，悬崖上的步道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670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沿途有防空洞、吊脚楼、江景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0540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第三步道相对平缓，适合带孩子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575303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968264"/>
                </a:solidFill>
                <a:latin typeface="PingFang SC"/>
              </a:defRPr>
            </a:pPr>
            <a:r>
              <a:t>亲子贴士: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9593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建议走1-2公里即可，不必走全程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沿途可以给孩子讲抗战历史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7274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夕阳时分最美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9_重庆科技馆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46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68CDC"/>
                </a:solidFill>
                <a:latin typeface="PingFang SC"/>
              </a:defRPr>
            </a:pPr>
            <a:r>
              <a:t>重庆科技馆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江北区江北嘴 | 免费(需预约)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亮点: 互动展多，9岁11岁正合适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670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防灾科技厅、宇航科技厅、儿童科学乐园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0540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至少留2-3小时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575303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68CDC"/>
                </a:solidFill>
                <a:latin typeface="PingFang SC"/>
              </a:defRPr>
            </a:pPr>
            <a:r>
              <a:t>亲子贴士: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9593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周一闭馆，记得提前预约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孩子可以动手操作很多展项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7274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周边有长嘉汇购物公园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_重庆动物园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5669280" cy="5303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731520"/>
            <a:ext cx="73152" cy="5303520"/>
          </a:xfrm>
          <a:prstGeom prst="rect">
            <a:avLst/>
          </a:prstGeom>
          <a:solidFill>
            <a:srgbClr val="50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0" y="731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0B450"/>
                </a:solidFill>
                <a:latin typeface="PingFang SC"/>
              </a:defRPr>
            </a:pPr>
            <a:r>
              <a:t>重庆动物园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D2"/>
                </a:solidFill>
                <a:latin typeface="PingFang SC"/>
              </a:defRPr>
            </a:pPr>
            <a:r>
              <a:t>九龙坡区西郊路 | 门票25元/人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286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亮点: 看大熊猫四喜丸子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670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有儿童游乐区，孩子可以跑跳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0540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园内有无障碍通道，推车方便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575303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0B450"/>
                </a:solidFill>
                <a:latin typeface="PingFang SC"/>
              </a:defRPr>
            </a:pPr>
            <a:r>
              <a:t>亲子贴士: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95935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上午去，熊猫比较活跃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园内有餐厅，1-2小时可以逛完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7274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C8D2"/>
                </a:solidFill>
                <a:latin typeface="PingFang SC"/>
              </a:defRPr>
            </a:pPr>
            <a:r>
              <a:t>- 备好消食片，小吃吃多了怕肠胃不适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32"/>
                </a:solidFill>
                <a:latin typeface="PingFang SC"/>
              </a:defRPr>
            </a:pPr>
            <a:r>
              <a:t>必去景点排名(本地人推荐+榜单数据)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515600" cy="502920"/>
          </a:xfrm>
          <a:prstGeom prst="roundRect">
            <a:avLst/>
          </a:prstGeom>
          <a:solidFill>
            <a:srgbClr val="37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43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32"/>
                </a:solidFill>
                <a:latin typeface="PingFang SC"/>
              </a:defRPr>
            </a:pPr>
            <a:r>
              <a:t>洪崖洞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143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4.6分|9383点评|5篇榜单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143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  <a:latin typeface="PingFang SC"/>
              </a:defRPr>
            </a:pPr>
            <a:r>
              <a:t>吊脚楼夜景，现实版千与千寻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19"/>
            <a:ext cx="10515600" cy="502920"/>
          </a:xfrm>
          <a:prstGeom prst="roundRect">
            <a:avLst/>
          </a:prstGeom>
          <a:solidFill>
            <a:srgbClr val="37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32"/>
                </a:solidFill>
                <a:latin typeface="PingFang SC"/>
              </a:defRPr>
            </a:pPr>
            <a:r>
              <a:t>磁器口古镇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6916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4.6分|12274点评|5篇榜单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91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  <a:latin typeface="PingFang SC"/>
              </a:defRPr>
            </a:pPr>
            <a:r>
              <a:t>千年古镇，老重庆市井烟火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94560"/>
            <a:ext cx="10515600" cy="502920"/>
          </a:xfrm>
          <a:prstGeom prst="roundRect">
            <a:avLst/>
          </a:prstGeom>
          <a:solidFill>
            <a:srgbClr val="37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402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0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32"/>
                </a:solidFill>
                <a:latin typeface="PingFang SC"/>
              </a:defRPr>
            </a:pPr>
            <a:r>
              <a:t>长江索道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402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4.1分|3942点评|5篇榜单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2402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  <a:latin typeface="PingFang SC"/>
              </a:defRPr>
            </a:pPr>
            <a:r>
              <a:t>空中巴士，俯瞰两江交汇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743200"/>
            <a:ext cx="10515600" cy="502920"/>
          </a:xfrm>
          <a:prstGeom prst="roundRect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t>解放碑步行街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788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4.7分|6185点评|4篇榜单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  <a:latin typeface="PingFang SC"/>
              </a:defRPr>
            </a:pPr>
            <a:r>
              <a:t>重庆最繁华商圈，美食天堂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291839"/>
            <a:ext cx="10515600" cy="502920"/>
          </a:xfrm>
          <a:prstGeom prst="roundRect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3375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3375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t>山城步道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3375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4.6分|658点评|4篇榜单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3375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  <a:latin typeface="PingFang SC"/>
              </a:defRPr>
            </a:pPr>
            <a:r>
              <a:t>悬崖步道，体验爬坡上坎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840480"/>
            <a:ext cx="10515600" cy="502920"/>
          </a:xfrm>
          <a:prstGeom prst="roundRect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886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886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t>武隆天生三桥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886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4.6分|世界自然遗产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  <a:latin typeface="PingFang SC"/>
              </a:defRPr>
            </a:pPr>
            <a:r>
              <a:t>喀斯特奇观，变形金刚取景地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389120"/>
            <a:ext cx="10515600" cy="502920"/>
          </a:xfrm>
          <a:prstGeom prst="roundRect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t>鹅岭公园/二厂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4.7分|560点评|4篇榜单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  <a:latin typeface="PingFang SC"/>
              </a:defRPr>
            </a:pPr>
            <a:r>
              <a:t>登高看两江交汇，文艺打卡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937760"/>
            <a:ext cx="10515600" cy="502920"/>
          </a:xfrm>
          <a:prstGeom prst="roundRect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983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t>南山一棵树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4983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4.4分|919点评|4篇榜单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  <a:latin typeface="PingFang SC"/>
              </a:defRPr>
            </a:pPr>
            <a:r>
              <a:t>俯瞰渝中半岛全景绝佳位置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486400"/>
            <a:ext cx="10515600" cy="502920"/>
          </a:xfrm>
          <a:prstGeom prst="roundRect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532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t>大足石刻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5532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4.6分|1874点评|2篇榜单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  <a:latin typeface="PingFang SC"/>
              </a:defRPr>
            </a:pPr>
            <a:r>
              <a:t>世界文化遗产，唐宋石窟瑰宝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6035040"/>
            <a:ext cx="10515600" cy="502920"/>
          </a:xfrm>
          <a:prstGeom prst="roundRect">
            <a:avLst/>
          </a:prstGeom>
          <a:solidFill>
            <a:srgbClr val="282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60807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600" y="60807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t>三峡博物馆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60807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PingFang SC"/>
              </a:defRPr>
            </a:pPr>
            <a:r>
              <a:t>4.6分|937点评|1篇榜单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60807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  <a:latin typeface="PingFang SC"/>
              </a:defRPr>
            </a:pPr>
            <a:r>
              <a:t>了解重庆历史，免费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68CDC"/>
                </a:solidFill>
                <a:latin typeface="PingFang SC"/>
              </a:defRPr>
            </a:pPr>
            <a:r>
              <a:t>必住酒店推荐(亲子友好+口碑好)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8C32"/>
                </a:solidFill>
                <a:latin typeface="PingFang SC"/>
              </a:defRPr>
            </a:pPr>
            <a:r>
              <a:t>核心原则: 住解放碑/洪崖洞附近，步行可达主要景点，节省交通时间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74720" cy="493776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FF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32"/>
                </a:solidFill>
                <a:latin typeface="PingFang SC"/>
              </a:defRPr>
            </a:pPr>
            <a:r>
              <a:t>高档推荐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首象酒店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32"/>
                </a:solidFill>
                <a:latin typeface="PingFang SC"/>
              </a:defRPr>
            </a:pPr>
            <a:r>
              <a:t>4.9分|3486点评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  <a:latin typeface="PingFang SC"/>
              </a:defRPr>
            </a:pPr>
            <a:r>
              <a:t>360度江景，亲子主题房，自助早餐含小面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亚朵S江景酒店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9475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32"/>
                </a:solidFill>
                <a:latin typeface="PingFang SC"/>
              </a:defRPr>
            </a:pPr>
            <a:r>
              <a:t>4.8分|8830点评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  <a:latin typeface="PingFang SC"/>
              </a:defRPr>
            </a:pPr>
            <a:r>
              <a:t>免费停车场，亲子房，离洪崖洞最近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Mc麦悦空中酒店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5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32"/>
                </a:solidFill>
                <a:latin typeface="PingFang SC"/>
              </a:defRPr>
            </a:pPr>
            <a:r>
              <a:t>4.8分|3846点评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440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  <a:latin typeface="PingFang SC"/>
              </a:defRPr>
            </a:pPr>
            <a:r>
              <a:t>200米顶层江景，270度视野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1280160"/>
            <a:ext cx="3474720" cy="493776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5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0B478"/>
                </a:solidFill>
                <a:latin typeface="PingFang SC"/>
              </a:defRPr>
            </a:pPr>
            <a:r>
              <a:t>中档推荐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美居酒店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2423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32"/>
                </a:solidFill>
                <a:latin typeface="PingFang SC"/>
              </a:defRPr>
            </a:pPr>
            <a:r>
              <a:t>4.7分|9871点评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6974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  <a:latin typeface="PingFang SC"/>
              </a:defRPr>
            </a:pPr>
            <a:r>
              <a:t>亲子主题房，出门即解放碑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TheMove江景酒店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379475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32"/>
                </a:solidFill>
                <a:latin typeface="PingFang SC"/>
              </a:defRPr>
            </a:pPr>
            <a:r>
              <a:t>4.8分|16000点评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4069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  <a:latin typeface="PingFang SC"/>
              </a:defRPr>
            </a:pPr>
            <a:r>
              <a:t>无敌观景位，亲子主题房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欢致江景酒店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516635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32"/>
                </a:solidFill>
                <a:latin typeface="PingFang SC"/>
              </a:defRPr>
            </a:pPr>
            <a:r>
              <a:t>4.8分|13000点评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5440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  <a:latin typeface="PingFang SC"/>
              </a:defRPr>
            </a:pPr>
            <a:r>
              <a:t>洪崖洞C位，免费停车场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280160"/>
            <a:ext cx="3474720" cy="493776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B4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478FF"/>
                </a:solidFill>
                <a:latin typeface="PingFang SC"/>
              </a:defRPr>
            </a:pPr>
            <a:r>
              <a:t>亲子特色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SOLO亲子公寓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423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32"/>
                </a:solidFill>
                <a:latin typeface="PingFang SC"/>
              </a:defRPr>
            </a:pPr>
            <a:r>
              <a:t>5.0分|LOFT复式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6974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  <a:latin typeface="PingFang SC"/>
              </a:defRPr>
            </a:pPr>
            <a:r>
              <a:t>超长滑梯+儿童玩具，孩子不想出门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麗枫酒店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79475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32"/>
                </a:solidFill>
                <a:latin typeface="PingFang SC"/>
              </a:defRPr>
            </a:pPr>
            <a:r>
              <a:t>4.7分|12135点评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069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  <a:latin typeface="PingFang SC"/>
              </a:defRPr>
            </a:pPr>
            <a:r>
              <a:t>全景玻璃俯瞰解放碑，免费行李寄存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S.island高空酒店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16635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32"/>
                </a:solidFill>
                <a:latin typeface="PingFang SC"/>
              </a:defRPr>
            </a:pPr>
            <a:r>
              <a:t>4.9分|亲子好评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5440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  <a:latin typeface="PingFang SC"/>
              </a:defRPr>
            </a:pPr>
            <a:r>
              <a:t>浴缸让小孩泡得开心，管家服务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3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32"/>
                </a:solidFill>
                <a:latin typeface="PingFang SC"/>
              </a:defRPr>
            </a:pPr>
            <a:r>
              <a:t>必吃美食地图(本地人推荐)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474720" cy="530352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DC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5050"/>
                </a:solidFill>
                <a:latin typeface="PingFang SC"/>
              </a:defRPr>
            </a:pPr>
            <a:r>
              <a:t>老火锅(本地人私藏)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陈婆婆火锅 洪崖洞店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PingFang SC"/>
              </a:defRPr>
            </a:pPr>
            <a:r>
              <a:t>3元素菜，10元荤菜，1元冰粉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莉姐火锅 洪崖洞店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PingFang SC"/>
              </a:defRPr>
            </a:pPr>
            <a:r>
              <a:t>社区楼下，人均60，回头客多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渝味晓宇火锅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PingFang SC"/>
              </a:defRPr>
            </a:pPr>
            <a:r>
              <a:t>4.8分，非遗技艺，舌尖2推荐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大龙火锅(老店)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PingFang SC"/>
              </a:defRPr>
            </a:pPr>
            <a:r>
              <a:t>4.5分，当地人推崇的市井火锅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莲姐火锅 解放碑店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PingFang SC"/>
              </a:defRPr>
            </a:pPr>
            <a:r>
              <a:t>巷子里老火锅，越煮越香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57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熊猫火锅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PingFang SC"/>
              </a:defRPr>
            </a:pPr>
            <a:r>
              <a:t>熊猫元素，菜品1-19元，孩子喜欢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1005840"/>
            <a:ext cx="3474720" cy="530352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FF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1188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小面/早餐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花市豌杂面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PingFang SC"/>
              </a:defRPr>
            </a:pPr>
            <a:r>
              <a:t>14元/碗，告诉老板少辣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香宇面庄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PingFang SC"/>
              </a:defRPr>
            </a:pPr>
            <a:r>
              <a:t>本地人封神级老店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3200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熨斗糕/糯米团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PingFang SC"/>
              </a:defRPr>
            </a:pPr>
            <a:r>
              <a:t>街边小吃，随身揣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3886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好又来酸辣粉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79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PingFang SC"/>
              </a:defRPr>
            </a:pPr>
            <a:r>
              <a:t>酸味为主，辣度可控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005840"/>
            <a:ext cx="3474720" cy="530352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5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1188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B478"/>
                </a:solidFill>
                <a:latin typeface="PingFang SC"/>
              </a:defRPr>
            </a:pPr>
            <a:r>
              <a:t>正餐/小吃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丘二馆炖鸡汤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PingFang SC"/>
              </a:defRPr>
            </a:pPr>
            <a:r>
              <a:t>不辣暖胃，适合孩子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余姐毛血旺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PingFang SC"/>
              </a:defRPr>
            </a:pPr>
            <a:r>
              <a:t>本地人封神级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200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曾老幺鱼庄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PingFang SC"/>
              </a:defRPr>
            </a:pPr>
            <a:r>
              <a:t>本地人封神级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886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武隆碗碗羊肉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PingFang SC"/>
              </a:defRPr>
            </a:pPr>
            <a:r>
              <a:t>去武隆必吃，不辣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572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陈麻花(磁器口)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PingFang SC"/>
              </a:defRPr>
            </a:pPr>
            <a:r>
              <a:t>买回去当伴手礼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5257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一只酸奶牛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532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PingFang SC"/>
              </a:defRPr>
            </a:pPr>
            <a:r>
              <a:t>重庆本土品牌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68CDC"/>
                </a:solidFill>
                <a:latin typeface="PingFang SC"/>
              </a:defRPr>
            </a:pPr>
            <a:r>
              <a:t>交通攻略: 公共交通 vs 自驾游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03520" cy="530352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468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68CDC"/>
                </a:solidFill>
                <a:latin typeface="PingFang SC"/>
              </a:defRPr>
            </a:pPr>
            <a:r>
              <a:t>公共交通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市区景点: 地铁最方便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- 1/2/3/6号线覆盖主要景点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- 孩子1.2m以下免票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- 洪崖洞: 小什字站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- 磁器口: 1号线磁器口站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29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- 李子坝: 2号线李子坝站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去武隆: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- 高铁: 北站-武隆站(1.5h)+大巴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0915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- 一日游团: 300-500元/人(含车+门票)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2919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97280" y="53492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优势: 便宜、不堵车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6692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劣势: 带孩子换乘辛苦、行李不便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097280"/>
            <a:ext cx="5303520" cy="530352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5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0B478"/>
                </a:solidFill>
                <a:latin typeface="PingFang SC"/>
              </a:defRPr>
            </a:pPr>
            <a:r>
              <a:t>自驾游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市区: 导航+停车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48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- 解放碑/洪崖洞停车位紧张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- 建议住酒店带停车场的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788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- 重庆导航有时失灵，多问路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108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583680" y="3429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去武隆: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- G65包茂高速，约3小时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- 过路费约100元单程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- 油费约200元单程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0915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- 景区有停车场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02919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583680" y="53492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优势: 灵活自由、行李方便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6692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劣势: 市区停车难、山路多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32"/>
                </a:solidFill>
                <a:latin typeface="PingFang SC"/>
              </a:defRPr>
            </a:pPr>
            <a:r>
              <a:t>交通方式对比总结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对比维度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097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68CDC"/>
                </a:solidFill>
                <a:latin typeface="PingFang SC"/>
              </a:defRPr>
            </a:pPr>
            <a:r>
              <a:t>公共交通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097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0B478"/>
                </a:solidFill>
                <a:latin typeface="PingFang SC"/>
              </a:defRPr>
            </a:pPr>
            <a:r>
              <a:t>自驾游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39"/>
            <a:ext cx="10515600" cy="59436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32"/>
                </a:solidFill>
                <a:latin typeface="PingFang SC"/>
              </a:defRPr>
            </a:pPr>
            <a:r>
              <a:t>费用(4人)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7373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约500-800元(3-4天)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约1500-2500元(油费+过路费+停车)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3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32"/>
                </a:solidFill>
                <a:latin typeface="PingFang SC"/>
              </a:defRPr>
            </a:pPr>
            <a:r>
              <a:t>灵活性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377439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受地铁时间限制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77439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随时出发，完全自由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71800"/>
            <a:ext cx="10515600" cy="59436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32"/>
                </a:solidFill>
                <a:latin typeface="PingFang SC"/>
              </a:defRPr>
            </a:pPr>
            <a:r>
              <a:t>带孩子舒适度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0175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换乘辛苦，需步行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0175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孩子随时休息，行李方便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32"/>
                </a:solidFill>
                <a:latin typeface="PingFang SC"/>
              </a:defRPr>
            </a:pPr>
            <a:r>
              <a:t>去武隆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657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高铁+大巴，约4小时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57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自驾，约3小时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51960"/>
            <a:ext cx="10515600" cy="59436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32"/>
                </a:solidFill>
                <a:latin typeface="PingFang SC"/>
              </a:defRPr>
            </a:pPr>
            <a:r>
              <a:t>市区游览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2976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地铁直达，不怕堵车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2976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停车难，导航可能失灵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3775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32"/>
                </a:solidFill>
                <a:latin typeface="PingFang SC"/>
              </a:defRPr>
            </a:pPr>
            <a:r>
              <a:t>适合场景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937759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预算有限、轻装出行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937759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带娃多行李、灵活安排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532120"/>
            <a:ext cx="10515600" cy="59436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778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32"/>
                </a:solidFill>
                <a:latin typeface="PingFang SC"/>
              </a:defRPr>
            </a:pPr>
            <a:r>
              <a:t>推荐指数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5778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****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5778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*****(亲子游首选)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32"/>
                </a:solidFill>
                <a:latin typeface="PingFang SC"/>
              </a:defRPr>
            </a:pPr>
            <a:r>
              <a:t>费用估算(4人)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05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3天版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005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4天版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05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32"/>
                </a:solidFill>
                <a:latin typeface="PingFang SC"/>
              </a:defRPr>
            </a:pPr>
            <a:r>
              <a:t>5天版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0515600" cy="54864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往返交通(高铁)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2,000-3,000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2,000-3,000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2,000-3,000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住宿(3/4/5晚)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1,500-2,500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2,000-3,500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2,500-4,500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788920"/>
            <a:ext cx="10515600" cy="54864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餐饮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1,200-1,800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1,600-2,400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2,000-3,000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门票+交通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429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500-800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429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1,500-2,500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429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1,500-2,500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977640"/>
            <a:ext cx="10515600" cy="548640"/>
          </a:xfrm>
          <a:prstGeom prst="rect">
            <a:avLst/>
          </a:prstGeom>
          <a:solidFill>
            <a:srgbClr val="32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零食+伴手礼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300-500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300-500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023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300-500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709160"/>
            <a:ext cx="10515600" cy="64008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00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合计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800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5,500-8,600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800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7,400-11,900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800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PingFang SC"/>
              </a:defRPr>
            </a:pPr>
            <a:r>
              <a:t>8,300-13,500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623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人均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623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1,400-2,150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623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1,850-2,975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623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PingFang SC"/>
              </a:defRPr>
            </a:pPr>
            <a:r>
              <a:t>2,075-3,375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0B478"/>
                </a:solidFill>
                <a:latin typeface="PingFang SC"/>
              </a:defRPr>
            </a:pPr>
            <a:r>
              <a:t>出行提醒 &amp; 你可能没注意到的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5303520" cy="530352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5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0B478"/>
                </a:solidFill>
                <a:latin typeface="PingFang SC"/>
              </a:defRPr>
            </a:pPr>
            <a:r>
              <a:t>关键提醒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0B478"/>
                </a:solidFill>
                <a:latin typeface="PingFang SC"/>
              </a:defRPr>
            </a:pPr>
            <a:r>
              <a:t>中秋 vs 国庆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中秋: 性价比高，人少，体验好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59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国庆: 人多，提前1个月订酒店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国庆热门餐厅排队1-2小时很正常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节奏控制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832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每天控制在1.5万步以内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5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每天最多3个景点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武隆那天最累，前后各留一天缓冲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饮食注意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火锅别第一顿就吃，让肠胃适应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291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点鸳鸯锅/微辣，不要给孩子吃太辣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035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备好消食片/益生菌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8521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安全提醒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1264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洪崖洞人多牵好孩子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4007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重庆导航有时失灵，多问路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66751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天气说变就变，带雨伞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005840"/>
            <a:ext cx="5303520" cy="5303520"/>
          </a:xfrm>
          <a:prstGeom prst="roundRect">
            <a:avLst/>
          </a:prstGeom>
          <a:solidFill>
            <a:srgbClr val="32323C"/>
          </a:solidFill>
          <a:ln w="25400">
            <a:solidFill>
              <a:srgbClr val="FF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188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32"/>
                </a:solidFill>
                <a:latin typeface="PingFang SC"/>
              </a:defRPr>
            </a:pPr>
            <a:r>
              <a:t>你可能没注意到的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737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重庆到处是坡，推车不方便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057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酒店选有电梯的，老楼可能没电梯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377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导航在重庆经常失灵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697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长江索道公众号提前预约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017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科技馆周一闭馆，提前预约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37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磁器口节假日主街很挤，往小巷走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657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洪崖洞别信快速通道，都是骗人的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9776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武隆山上紫外线强，涂防晒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2976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武隆比市区凉5-8度，带薄外套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61771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八一好吃街有些店偏贵，认准本地小店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93775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火锅点菜别点太多，容易浪费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25779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- 酒店选有停车场的，自驾方便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109728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PingFang SC"/>
              </a:defRPr>
            </a:pPr>
            <a:r>
              <a:t>祝旅途愉快！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8C32"/>
                </a:solidFill>
                <a:latin typeface="PingFang SC"/>
              </a:defRPr>
            </a:pPr>
            <a:r>
              <a:t>重庆，一座来了就不想走的城市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931920"/>
            <a:ext cx="4572000" cy="18288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C8D2"/>
                </a:solidFill>
                <a:latin typeface="PingFang SC"/>
              </a:defRPr>
            </a:pPr>
            <a:r>
              <a:t>让孩子们在8D魔幻城市里，推开一扇扇探索的门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2828C"/>
                </a:solidFill>
                <a:latin typeface="PingFang SC"/>
              </a:defRPr>
            </a:pPr>
            <a:r>
              <a:t>暖暖 x 丹丹一家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